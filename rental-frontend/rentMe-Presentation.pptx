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011680"/>
            <a:ext cx="73152" cy="1005840"/>
          </a:xfrm>
          <a:prstGeom prst="rect">
            <a:avLst/>
          </a:prstGeom>
          <a:solidFill>
            <a:srgbClr val="C8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9659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0EFF8"/>
                </a:solidFill>
              </a:defRPr>
            </a:pPr>
            <a:r>
              <a:t>rentMe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260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8FF57"/>
                </a:solidFill>
              </a:defRPr>
            </a:pPr>
            <a:r>
              <a:t>Find your next home.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5760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CA3AF"/>
                </a:solidFill>
              </a:defRPr>
            </a:pPr>
            <a:r>
              <a:t>Platformă unificată de căutare chirii în România</a:t>
            </a:r>
          </a:p>
          <a:p>
            <a:pPr>
              <a:defRPr sz="1600">
                <a:solidFill>
                  <a:srgbClr val="9CA3AF"/>
                </a:solidFill>
              </a:defRPr>
            </a:pPr>
            <a:r>
              <a:t>Licență Finală — Frontend React + Backend NestJS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8920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OLX  ·  Storia  ·  Publi24  ·  Imobiliare  ·  USER listings  ·  AI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Sebastian Chis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02920"/>
          </a:xfrm>
          <a:prstGeom prst="rect">
            <a:avLst/>
          </a:prstGeom>
          <a:solidFill>
            <a:srgbClr val="C8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0EFF8"/>
                </a:solidFill>
              </a:defRPr>
            </a:pPr>
            <a:r>
              <a:t>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CA3AF"/>
                </a:solidFill>
              </a:defRPr>
            </a:pPr>
            <a:r>
              <a:t>De ce avem nevoie de rentMe?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7772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F0EFF8"/>
                </a:solidFill>
              </a:defRPr>
            </a:pPr>
            <a:r>
              <a:t>Anunțurile de închiriere sunt împrăștiate pe mai multe platforme (OLX, Storia, Publi24, Imobiliare)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F0EFF8"/>
                </a:solidFill>
              </a:defRPr>
            </a:pPr>
            <a:r>
              <a:t>Utilizatorii repetă aceleași căutări, filtre și comparații pe fiecare site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F0EFF8"/>
                </a:solidFill>
              </a:defRPr>
            </a:pPr>
            <a:r>
              <a:t>Este greu să compari preț, suprafață, tip proprietar (PF vs agenție) și vechimea anunțului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F0EFF8"/>
                </a:solidFill>
              </a:defRPr>
            </a:pPr>
            <a:r>
              <a:t>Nu există un loc unic pentru favorite, anunțuri proprii și recomandări inteligente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F0EFF8"/>
                </a:solidFill>
              </a:defRPr>
            </a:pPr>
            <a:r>
              <a:t>Studenții și chiriașii din orașe precum Cluj-Napoca au nevoie de descoperire rapidă și centralizată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rentMe — Licență Finală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02920"/>
          </a:xfrm>
          <a:prstGeom prst="rect">
            <a:avLst/>
          </a:prstGeom>
          <a:solidFill>
            <a:srgbClr val="C8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0EFF8"/>
                </a:solidFill>
              </a:defRPr>
            </a:pPr>
            <a:r>
              <a:t>Soluția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CA3AF"/>
                </a:solidFill>
              </a:defRPr>
            </a:pPr>
            <a:r>
              <a:t>Un singur dashboard pentru tot ce ține de chirie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7772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F0EFF8"/>
                </a:solidFill>
              </a:defRPr>
            </a:pPr>
            <a:r>
              <a:t>Agregare: listări din surse multiple într-un singur grid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F0EFF8"/>
                </a:solidFill>
              </a:defRPr>
            </a:pPr>
            <a:r>
              <a:t>Filtrare &amp; sortare: sursă, camere, preț maxim, proprietar, dată, suprafață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F0EFF8"/>
                </a:solidFill>
              </a:defRPr>
            </a:pPr>
            <a:r>
              <a:t>Detalii: galerie foto, metadate, link către anunțul original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F0EFF8"/>
                </a:solidFill>
              </a:defRPr>
            </a:pPr>
            <a:r>
              <a:t>Conturi utilizator: postare și gestionare anunțuri proprii (USER)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F0EFF8"/>
                </a:solidFill>
              </a:defRPr>
            </a:pPr>
            <a:r>
              <a:t>Asistent AI: recomandări similare cu scor și explicații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800">
                <a:solidFill>
                  <a:srgbClr val="F0EFF8"/>
                </a:solidFill>
              </a:defRPr>
            </a:pPr>
            <a:r>
              <a:t>Preferințe salvate local: filtre, oraș, favorite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rentMe — Licență Finală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02920"/>
          </a:xfrm>
          <a:prstGeom prst="rect">
            <a:avLst/>
          </a:prstGeom>
          <a:solidFill>
            <a:srgbClr val="C8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0EFF8"/>
                </a:solidFill>
              </a:defRPr>
            </a:pPr>
            <a:r>
              <a:t>Arhitectură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CA3AF"/>
                </a:solidFill>
              </a:defRPr>
            </a:pPr>
            <a:r>
              <a:t>SPA React + API REST NestJS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7772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C8FF57"/>
                </a:solidFill>
              </a:defRPr>
            </a:pPr>
            <a:r>
              <a:t>Browser (React 19, HashRouter, CSS Modules)</a:t>
            </a:r>
          </a:p>
          <a:p>
            <a:pPr>
              <a:spcAft>
                <a:spcPts val="400"/>
              </a:spcAft>
              <a:defRPr sz="1500" b="0">
                <a:solidFill>
                  <a:srgbClr val="F0EFF8"/>
                </a:solidFill>
              </a:defRPr>
            </a:pPr>
            <a:r>
              <a:t>  → AppContext: auth, filtre, listări, modale</a:t>
            </a:r>
          </a:p>
          <a:p>
            <a:pPr>
              <a:spcAft>
                <a:spcPts val="400"/>
              </a:spcAft>
              <a:defRPr sz="1500" b="0">
                <a:solidFill>
                  <a:srgbClr val="F0EFF8"/>
                </a:solidFill>
              </a:defRPr>
            </a:pPr>
            <a:r>
              <a:t>  → fetch() către API (localhost:9000 / REACT_APP_API_URL)</a:t>
            </a:r>
          </a:p>
          <a:p>
            <a:pPr>
              <a:spcAft>
                <a:spcPts val="400"/>
              </a:spcAft>
              <a:defRPr sz="1500" b="0">
                <a:solidFill>
                  <a:srgbClr val="F0EFF8"/>
                </a:solidFill>
              </a:defRPr>
            </a:pPr>
            <a:r>
              <a:t>  → localStorage: token, user, filtre, oraș, favorite</a:t>
            </a:r>
          </a:p>
          <a:p>
            <a:pPr>
              <a:spcAft>
                <a:spcPts val="400"/>
              </a:spcAft>
              <a:defRPr sz="1600" b="0">
                <a:solidFill>
                  <a:srgbClr val="F0EFF8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C8FF57"/>
                </a:solidFill>
              </a:defRPr>
            </a:pPr>
            <a:r>
              <a:t>Backend NestJS</a:t>
            </a:r>
          </a:p>
          <a:p>
            <a:pPr>
              <a:spcAft>
                <a:spcPts val="400"/>
              </a:spcAft>
              <a:defRPr sz="1500" b="0">
                <a:solidFill>
                  <a:srgbClr val="F0EFF8"/>
                </a:solidFill>
              </a:defRPr>
            </a:pPr>
            <a:r>
              <a:t>  GET  /listings/:city        — agregare + filtre</a:t>
            </a:r>
          </a:p>
          <a:p>
            <a:pPr>
              <a:spcAft>
                <a:spcPts val="400"/>
              </a:spcAft>
              <a:defRPr sz="1500" b="0">
                <a:solidFill>
                  <a:srgbClr val="F0EFF8"/>
                </a:solidFill>
              </a:defRPr>
            </a:pPr>
            <a:r>
              <a:t>  GET  /renting-page/:id      — detalii anunț</a:t>
            </a:r>
          </a:p>
          <a:p>
            <a:pPr>
              <a:spcAft>
                <a:spcPts val="400"/>
              </a:spcAft>
              <a:defRPr sz="1500" b="0">
                <a:solidFill>
                  <a:srgbClr val="F0EFF8"/>
                </a:solidFill>
              </a:defRPr>
            </a:pPr>
            <a:r>
              <a:t>  POST /auth/*                — login, signup, reset parolă</a:t>
            </a:r>
          </a:p>
          <a:p>
            <a:pPr>
              <a:spcAft>
                <a:spcPts val="400"/>
              </a:spcAft>
              <a:defRPr sz="1500" b="0">
                <a:solidFill>
                  <a:srgbClr val="F0EFF8"/>
                </a:solidFill>
              </a:defRPr>
            </a:pPr>
            <a:r>
              <a:t>  CRUD /advertisements/*      — anunțuri utilizator</a:t>
            </a:r>
          </a:p>
          <a:p>
            <a:pPr>
              <a:spcAft>
                <a:spcPts val="400"/>
              </a:spcAft>
              <a:defRPr sz="1500" b="0">
                <a:solidFill>
                  <a:srgbClr val="F0EFF8"/>
                </a:solidFill>
              </a:defRPr>
            </a:pPr>
            <a:r>
              <a:t>  POST /assistant/recommend   — recomandări AI (Gemini)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rentMe — Licență Finală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02920"/>
          </a:xfrm>
          <a:prstGeom prst="rect">
            <a:avLst/>
          </a:prstGeom>
          <a:solidFill>
            <a:srgbClr val="C8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0EFF8"/>
                </a:solidFill>
              </a:defRPr>
            </a:pPr>
            <a:r>
              <a:t>Funcționalități — Descoperire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CA3AF"/>
                </a:solidFill>
              </a:defRPr>
            </a:pPr>
            <a:r>
              <a:t>Homepage &amp; căutare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7772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F0EFF8"/>
                </a:solidFill>
              </a:defRPr>
            </a:pPr>
            <a:r>
              <a:t>Stats row: total anunțuri, platforme, preț mediu/minim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F0EFF8"/>
                </a:solidFill>
              </a:defRPr>
            </a:pPr>
            <a:r>
              <a:t>Căutare pe oraș (implicit Cluj-Napoca)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F0EFF8"/>
                </a:solidFill>
              </a:defRPr>
            </a:pPr>
            <a:r>
              <a:t>Filtre rapide: proprietar, sursă, camere, preț max, sortare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F0EFF8"/>
                </a:solidFill>
              </a:defRPr>
            </a:pPr>
            <a:r>
              <a:t>Carduri: carousel foto, badge sursă (OLX, USER…), preț, m², camere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F0EFF8"/>
                </a:solidFill>
              </a:defRPr>
            </a:pPr>
            <a:r>
              <a:t>Modal detalii: galerie, descriere, €/m², salvare, link sursă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F0EFF8"/>
                </a:solidFill>
              </a:defRPr>
            </a:pPr>
            <a:r>
              <a:t>Skeleton loaders pentru performanță percepută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rentMe — Licență Finală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02920"/>
          </a:xfrm>
          <a:prstGeom prst="rect">
            <a:avLst/>
          </a:prstGeom>
          <a:solidFill>
            <a:srgbClr val="C8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0EFF8"/>
                </a:solidFill>
              </a:defRPr>
            </a:pPr>
            <a:r>
              <a:t>Funcționalități — Cont &amp;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CA3AF"/>
                </a:solidFill>
              </a:defRPr>
            </a:pPr>
            <a:r>
              <a:t>Autentificare, anunțuri proprii, recomandări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3749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B5CF6"/>
                </a:solidFill>
              </a:defRPr>
            </a:pPr>
            <a:r>
              <a:t>Autentificare &amp; Anunțuri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0" y="1417320"/>
            <a:ext cx="3749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B5CF6"/>
                </a:solidFill>
              </a:defRPr>
            </a:pPr>
            <a:r>
              <a:t>Asistent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3657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0EFF8"/>
                </a:solidFill>
              </a:defRPr>
            </a:pPr>
            <a:r>
              <a:t>Login / signup / forgot password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0EFF8"/>
                </a:solidFill>
              </a:defRPr>
            </a:pPr>
            <a:r>
              <a:t>Reset parolă prin email (JWT)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0EFF8"/>
                </a:solidFill>
              </a:defRPr>
            </a:pPr>
            <a:r>
              <a:t>Rută protejată: /my-listings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0EFF8"/>
                </a:solidFill>
              </a:defRPr>
            </a:pPr>
            <a:r>
              <a:t>CRUD anunțuri proprii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0EFF8"/>
                </a:solidFill>
              </a:defRPr>
            </a:pPr>
            <a:r>
              <a:t>Fotografii multiple (URL-uri)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0EFF8"/>
                </a:solidFill>
              </a:defRPr>
            </a:pPr>
            <a:r>
              <a:t>Anunțuri USER în feed-ul principal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874519"/>
            <a:ext cx="3657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0EFF8"/>
                </a:solidFill>
              </a:defRPr>
            </a:pPr>
            <a:r>
              <a:t>Disponibil din modalul de detalii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0EFF8"/>
                </a:solidFill>
              </a:defRPr>
            </a:pPr>
            <a:r>
              <a:t>Trimite anunțul curent + candidați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0EFF8"/>
                </a:solidFill>
              </a:defRPr>
            </a:pPr>
            <a:r>
              <a:t>Backend: Google Gemini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0EFF8"/>
                </a:solidFill>
              </a:defRPr>
            </a:pPr>
            <a:r>
              <a:t>Scor similaritate % + motive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0EFF8"/>
                </a:solidFill>
              </a:defRPr>
            </a:pPr>
            <a:r>
              <a:t>Link către anunțuri recomandate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0EFF8"/>
                </a:solidFill>
              </a:defRPr>
            </a:pPr>
            <a:r>
              <a:t>Ajută decizia de chirie mai rapid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rentMe — Licență Finală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02920"/>
          </a:xfrm>
          <a:prstGeom prst="rect">
            <a:avLst/>
          </a:prstGeom>
          <a:solidFill>
            <a:srgbClr val="C8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0EFF8"/>
                </a:solidFill>
              </a:defRPr>
            </a:pPr>
            <a:r>
              <a:t>Stack tehnologic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CA3AF"/>
                </a:solidFill>
              </a:defRPr>
            </a:pPr>
            <a:r>
              <a:t>Frontend + backend + infrastructură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3749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B5CF6"/>
                </a:solidFill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0" y="1417320"/>
            <a:ext cx="3749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B5CF6"/>
                </a:solidFill>
              </a:defRPr>
            </a:pPr>
            <a:r>
              <a:t>Backend &amp; 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3657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0EFF8"/>
                </a:solidFill>
              </a:defRPr>
            </a:pPr>
            <a:r>
              <a:t>React 19 + React Router 7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0EFF8"/>
                </a:solidFill>
              </a:defRPr>
            </a:pPr>
            <a:r>
              <a:t>Create React App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0EFF8"/>
                </a:solidFill>
              </a:defRPr>
            </a:pPr>
            <a:r>
              <a:t>CSS Modules, dark theme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0EFF8"/>
                </a:solidFill>
              </a:defRPr>
            </a:pPr>
            <a:r>
              <a:t>Context API + localStorage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0EFF8"/>
                </a:solidFill>
              </a:defRPr>
            </a:pPr>
            <a:r>
              <a:t>Native fetch (fără axios)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0EFF8"/>
                </a:solidFill>
              </a:defRPr>
            </a:pPr>
            <a:r>
              <a:t>Deploy: GitHub Pages (gh-pages)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874519"/>
            <a:ext cx="3657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0EFF8"/>
                </a:solidFill>
              </a:defRPr>
            </a:pPr>
            <a:r>
              <a:t>NestJS + Prisma + PostgreSQL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0EFF8"/>
                </a:solidFill>
              </a:defRPr>
            </a:pPr>
            <a:r>
              <a:t>Scraping: OLX, Storia, Publi24, Imobiliare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0EFF8"/>
                </a:solidFill>
              </a:defRPr>
            </a:pPr>
            <a:r>
              <a:t>Puppeteer / Chromium în Docker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0EFF8"/>
                </a:solidFill>
              </a:defRPr>
            </a:pPr>
            <a:r>
              <a:t>JWT auth, Resend email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0EFF8"/>
                </a:solidFill>
              </a:defRPr>
            </a:pPr>
            <a:r>
              <a:t>Gemini API pentru assistant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0EFF8"/>
                </a:solidFill>
              </a:defRPr>
            </a:pPr>
            <a:r>
              <a:t>Docker Compose (port 9000)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rentMe — Licență Finală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02920"/>
          </a:xfrm>
          <a:prstGeom prst="rect">
            <a:avLst/>
          </a:prstGeom>
          <a:solidFill>
            <a:srgbClr val="C8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0EFF8"/>
                </a:solidFill>
              </a:defRPr>
            </a:pPr>
            <a:r>
              <a:t>UI /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CA3AF"/>
                </a:solidFill>
              </a:defRPr>
            </a:pPr>
            <a:r>
              <a:t>Design modern pentru piața chiriilor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7772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F0EFF8"/>
                </a:solidFill>
              </a:defRPr>
            </a:pPr>
            <a:r>
              <a:t>Temă întunecată: fundal #0a0a0f, accent lime #c8ff57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F0EFF8"/>
                </a:solidFill>
              </a:defRPr>
            </a:pPr>
            <a:r>
              <a:t>Navbar sticky cu blur + meniu cont (avatar inițiale)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F0EFF8"/>
                </a:solidFill>
              </a:defRPr>
            </a:pPr>
            <a:r>
              <a:t>Hero: „Find your next home.” + locație curentă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F0EFF8"/>
                </a:solidFill>
              </a:defRPr>
            </a:pPr>
            <a:r>
              <a:t>Filter chips — filtrare fără reload de pagină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F0EFF8"/>
                </a:solidFill>
              </a:defRPr>
            </a:pPr>
            <a:r>
              <a:t>Grid responsive, imagini lazy-loaded, badge-uri colorate pe sursă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F0EFF8"/>
                </a:solidFill>
              </a:defRPr>
            </a:pPr>
            <a:r>
              <a:t>Modale: login, detalii (Escape, săgeți carousel), empty states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rentMe — Licență Finală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02920"/>
          </a:xfrm>
          <a:prstGeom prst="rect">
            <a:avLst/>
          </a:prstGeom>
          <a:solidFill>
            <a:srgbClr val="C8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0EFF8"/>
                </a:solidFill>
              </a:defRPr>
            </a:pPr>
            <a:r>
              <a:t>Demo — Flux prezentare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CA3AF"/>
                </a:solidFill>
              </a:defRPr>
            </a:pPr>
            <a:r>
              <a:t>Pași pentru juriu / comisie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347472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856231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0EFF8"/>
                </a:solidFill>
              </a:defRPr>
            </a:pPr>
            <a:r>
              <a:t>Deschide homepage → hero + statistici Cluj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441448"/>
            <a:ext cx="347472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42316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0EFF8"/>
                </a:solidFill>
              </a:defRPr>
            </a:pPr>
            <a:r>
              <a:t>Aplică filtre (proprietar, ≤450€, 2 camere, sortare preț)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008376"/>
            <a:ext cx="347472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990088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0EFF8"/>
                </a:solidFill>
              </a:defRPr>
            </a:pPr>
            <a:r>
              <a:t>Click pe card → modal detalii + carousel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575303"/>
            <a:ext cx="347472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557015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0EFF8"/>
                </a:solidFill>
              </a:defRPr>
            </a:pPr>
            <a:r>
              <a:t>Salvează anunț în favorite (localStorage)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142231"/>
            <a:ext cx="347472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123943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0EFF8"/>
                </a:solidFill>
              </a:defRPr>
            </a:pPr>
            <a:r>
              <a:t>Login → deschide asistentul AI pentru recomandări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709160"/>
            <a:ext cx="347472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690872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0EFF8"/>
                </a:solidFill>
              </a:defRPr>
            </a:pPr>
            <a:r>
              <a:t>My Listings → creează anunț propriu cu poze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5276088"/>
            <a:ext cx="347472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25780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0EFF8"/>
                </a:solidFill>
              </a:defRPr>
            </a:pPr>
            <a:r>
              <a:t>Verifică anunțul USER în feed-ul agregat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rentMe — Licență Finală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02920"/>
          </a:xfrm>
          <a:prstGeom prst="rect">
            <a:avLst/>
          </a:prstGeom>
          <a:solidFill>
            <a:srgbClr val="C8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0EFF8"/>
                </a:solidFill>
              </a:defRPr>
            </a:pPr>
            <a:r>
              <a:t>Concluzii &amp; viitor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CA3AF"/>
                </a:solidFill>
              </a:defRPr>
            </a:pPr>
            <a:r>
              <a:t>Rezumat proiect licență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3749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B5CF6"/>
                </a:solidFill>
              </a:defRPr>
            </a:pPr>
            <a:r>
              <a:t>Realizări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0" y="1417320"/>
            <a:ext cx="3749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8B5CF6"/>
                </a:solidFill>
              </a:defRPr>
            </a:pPr>
            <a:r>
              <a:t>Dezvoltări viitoare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3657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0EFF8"/>
                </a:solidFill>
              </a:defRPr>
            </a:pPr>
            <a:r>
              <a:t>Agregator practic pentru piața RO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0EFF8"/>
                </a:solidFill>
              </a:defRPr>
            </a:pPr>
            <a:r>
              <a:t>Scraping multi-sursă + anunțuri USER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0EFF8"/>
                </a:solidFill>
              </a:defRPr>
            </a:pPr>
            <a:r>
              <a:t>Recomandări AI integrate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0EFF8"/>
                </a:solidFill>
              </a:defRPr>
            </a:pPr>
            <a:r>
              <a:t>SPA React modular, deploy static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0EFF8"/>
                </a:solidFill>
              </a:defRPr>
            </a:pPr>
            <a:r>
              <a:t>Demo funcțional end-to-end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874519"/>
            <a:ext cx="3657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0EFF8"/>
                </a:solidFill>
              </a:defRPr>
            </a:pPr>
            <a:r>
              <a:t>Căutare keyword (în loc de doar oraș)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0EFF8"/>
                </a:solidFill>
              </a:defRPr>
            </a:pPr>
            <a:r>
              <a:t>Favorite sincronizate în backend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0EFF8"/>
                </a:solidFill>
              </a:defRPr>
            </a:pPr>
            <a:r>
              <a:t>Hartă interactivă pe orașe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0EFF8"/>
                </a:solidFill>
              </a:defRPr>
            </a:pPr>
            <a:r>
              <a:t>PWA / aplicație mobilă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500">
                <a:solidFill>
                  <a:srgbClr val="F0EFF8"/>
                </a:solidFill>
              </a:defRPr>
            </a:pPr>
            <a:r>
              <a:t>i18n RO / EN, teste E2E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8064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8FF57"/>
                </a:solidFill>
              </a:defRPr>
            </a:pPr>
            <a:r>
              <a:t>Mulțumesc!  —  rentMe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550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rentMe — Licență Finală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